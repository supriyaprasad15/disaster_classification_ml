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0" y="731520"/>
            <a:ext cx="2468880" cy="5394960"/>
          </a:xfrm>
          <a:prstGeom prst="round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680960" cy="1463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DISASTER TWEET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713232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CFDCF1"/>
                </a:solidFill>
                <a:latin typeface="Aptos"/>
              </a:defRPr>
            </a:pPr>
            <a:r>
              <a:t>An NLP and machine-learning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6766560" cy="10972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Classifying social media posts as disaster-related or non-disaster using TF-IDF and supervised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2011680" cy="438912"/>
          </a:xfrm>
          <a:prstGeom prst="round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5330952"/>
            <a:ext cx="182880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731520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CFDCF1"/>
                </a:solidFill>
                <a:latin typeface="Aptos"/>
              </a:defRPr>
            </a:pPr>
            <a:r>
              <a:t>Based on the project brief, supplied dataset, code, and app screenshots</a:t>
            </a:r>
          </a:p>
        </p:txBody>
      </p:sp>
      <p:pic>
        <p:nvPicPr>
          <p:cNvPr id="11" name="Picture 10" descr="Tackling a Real-World Problem: Disaster Tweet Classification with Bertweet  | by Natanan Nithiittikrai | Medium">
            <a:extLst>
              <a:ext uri="{FF2B5EF4-FFF2-40B4-BE49-F238E27FC236}">
                <a16:creationId xmlns:a16="http://schemas.microsoft.com/office/drawing/2014/main" id="{F974EE8B-CD68-AD92-6E9E-4FDB1A37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264" y="0"/>
            <a:ext cx="39441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01  |  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229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Why disaster-tweet classification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3657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492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82296" cy="1737360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691639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5001768" cy="111556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Tweets may describe real emergencies—or use words such as “fire,” “flood,” and “disaster” metaphorically. Context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492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82296" cy="1737360"/>
          </a:xfrm>
          <a:prstGeom prst="rect">
            <a:avLst/>
          </a:prstGeom>
          <a:solidFill>
            <a:srgbClr val="23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91639"/>
            <a:ext cx="5001768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03120"/>
            <a:ext cx="5001768" cy="111556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Build a binary text classifier that predicts whether a tweet is related to a real disaster (1) or not (0).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45720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2745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023360"/>
            <a:ext cx="1069848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62745"/>
                </a:solidFill>
                <a:latin typeface="Aptos"/>
              </a:defRPr>
            </a:pPr>
            <a:r>
              <a:t>•  Prepare and explore the labelled tweet dataset.</a:t>
            </a:r>
          </a:p>
          <a:p>
            <a:pPr>
              <a:spcAft>
                <a:spcPts val="700"/>
              </a:spcAft>
              <a:defRPr sz="1600">
                <a:solidFill>
                  <a:srgbClr val="162745"/>
                </a:solidFill>
                <a:latin typeface="Aptos"/>
              </a:defRPr>
            </a:pPr>
            <a:r>
              <a:t>•  Convert text into numerical features with TF-IDF.</a:t>
            </a:r>
          </a:p>
          <a:p>
            <a:pPr>
              <a:spcAft>
                <a:spcPts val="700"/>
              </a:spcAft>
              <a:defRPr sz="1600">
                <a:solidFill>
                  <a:srgbClr val="162745"/>
                </a:solidFill>
                <a:latin typeface="Aptos"/>
              </a:defRPr>
            </a:pPr>
            <a:r>
              <a:t>•  Train and compare classification models using evaluation metrics.</a:t>
            </a:r>
          </a:p>
          <a:p>
            <a:pPr>
              <a:spcAft>
                <a:spcPts val="700"/>
              </a:spcAft>
              <a:defRPr sz="1600">
                <a:solidFill>
                  <a:srgbClr val="162745"/>
                </a:solidFill>
                <a:latin typeface="Aptos"/>
              </a:defRPr>
            </a:pPr>
            <a:r>
              <a:t>•  Provide a simple web interface for entering a tweet and viewing a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02  |  Dataset &amp; Data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229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Structure of the supplied Excel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3657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743200" cy="73152"/>
          </a:xfrm>
          <a:prstGeom prst="rect">
            <a:avLst/>
          </a:prstGeom>
          <a:solidFill>
            <a:srgbClr val="23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7,613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24231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Rows in supplied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155448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23360" y="1554480"/>
            <a:ext cx="2743200" cy="73152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87952" y="173736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212848"/>
            <a:ext cx="24231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55448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1554480"/>
            <a:ext cx="2743200" cy="73152"/>
          </a:xfrm>
          <a:prstGeom prst="rect">
            <a:avLst/>
          </a:prstGeom>
          <a:solidFill>
            <a:srgbClr val="F0A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1737360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 /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212848"/>
            <a:ext cx="2423160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Target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52120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62745"/>
                </a:solidFill>
                <a:latin typeface="Aptos"/>
              </a:defRPr>
            </a:pPr>
            <a:r>
              <a:t>Dataset columns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493776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62745"/>
                </a:solidFill>
                <a:latin typeface="Aptos"/>
              </a:defRPr>
            </a:pPr>
            <a:r>
              <a:t>•  id — tweet identifier</a:t>
            </a:r>
          </a:p>
          <a:p>
            <a:pPr>
              <a:spcAft>
                <a:spcPts val="400"/>
              </a:spcAft>
              <a:defRPr sz="1500">
                <a:solidFill>
                  <a:srgbClr val="162745"/>
                </a:solidFill>
                <a:latin typeface="Aptos"/>
              </a:defRPr>
            </a:pPr>
            <a:r>
              <a:t>•  keyword — associated keyword</a:t>
            </a:r>
          </a:p>
          <a:p>
            <a:pPr>
              <a:spcAft>
                <a:spcPts val="400"/>
              </a:spcAft>
              <a:defRPr sz="1500">
                <a:solidFill>
                  <a:srgbClr val="162745"/>
                </a:solidFill>
                <a:latin typeface="Aptos"/>
              </a:defRPr>
            </a:pPr>
            <a:r>
              <a:t>•  location — location information</a:t>
            </a:r>
          </a:p>
          <a:p>
            <a:pPr>
              <a:spcAft>
                <a:spcPts val="400"/>
              </a:spcAft>
              <a:defRPr sz="1500">
                <a:solidFill>
                  <a:srgbClr val="162745"/>
                </a:solidFill>
                <a:latin typeface="Aptos"/>
              </a:defRPr>
            </a:pPr>
            <a:r>
              <a:t>•  text — tweet content</a:t>
            </a:r>
          </a:p>
          <a:p>
            <a:pPr>
              <a:spcAft>
                <a:spcPts val="400"/>
              </a:spcAft>
              <a:defRPr sz="1500">
                <a:solidFill>
                  <a:srgbClr val="162745"/>
                </a:solidFill>
                <a:latin typeface="Aptos"/>
              </a:defRPr>
            </a:pPr>
            <a:r>
              <a:t>•  target — 0 = non-disaster, 1 = disaster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108960"/>
            <a:ext cx="5257800" cy="2148840"/>
          </a:xfrm>
          <a:prstGeom prst="roundRect">
            <a:avLst/>
          </a:prstGeom>
          <a:solidFill>
            <a:srgbClr val="E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4800600" cy="1691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62745"/>
                </a:solidFill>
                <a:latin typeface="Aptos"/>
              </a:defRPr>
            </a:pPr>
            <a:r>
              <a:t>Exploration steps</a:t>
            </a:r>
          </a:p>
          <a:p>
            <a:pPr>
              <a:spcAft>
                <a:spcPts val="600"/>
              </a:spcAft>
              <a:defRPr sz="1600" b="0">
                <a:solidFill>
                  <a:srgbClr val="162745"/>
                </a:solidFill>
                <a:latin typeface="Aptos"/>
              </a:defRPr>
            </a:pPr>
            <a:r>
              <a:t>• Inspect columns and data types</a:t>
            </a:r>
          </a:p>
          <a:p>
            <a:pPr>
              <a:spcAft>
                <a:spcPts val="600"/>
              </a:spcAft>
              <a:defRPr sz="1600" b="0">
                <a:solidFill>
                  <a:srgbClr val="162745"/>
                </a:solidFill>
                <a:latin typeface="Aptos"/>
              </a:defRPr>
            </a:pPr>
            <a:r>
              <a:t>• Check missing values</a:t>
            </a:r>
          </a:p>
          <a:p>
            <a:pPr>
              <a:spcAft>
                <a:spcPts val="600"/>
              </a:spcAft>
              <a:defRPr sz="1600" b="0">
                <a:solidFill>
                  <a:srgbClr val="162745"/>
                </a:solidFill>
                <a:latin typeface="Aptos"/>
              </a:defRPr>
            </a:pPr>
            <a:r>
              <a:t>• Plot target-class distribution</a:t>
            </a:r>
          </a:p>
          <a:p>
            <a:pPr>
              <a:spcAft>
                <a:spcPts val="600"/>
              </a:spcAft>
              <a:defRPr sz="1600" b="0">
                <a:solidFill>
                  <a:srgbClr val="162745"/>
                </a:solidFill>
                <a:latin typeface="Aptos"/>
              </a:defRPr>
            </a:pPr>
            <a:r>
              <a:t>• Identify frequent words and phrases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789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Note: the project brief mentions 10,000 tweets; the attached Excel file contains 7,613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03  |  Text Preparation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229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Turning raw tweet text into machine-readable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3657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2011680"/>
            <a:ext cx="438912" cy="438912"/>
          </a:xfrm>
          <a:prstGeom prst="round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06040"/>
            <a:ext cx="2148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Clean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35808"/>
            <a:ext cx="2148840" cy="960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Remove URLs, HTML, and user mentions; normalize whitespace.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3" y="2651760"/>
            <a:ext cx="2743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49D9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30752" y="2011680"/>
            <a:ext cx="438912" cy="438912"/>
          </a:xfrm>
          <a:prstGeom prst="roundRect">
            <a:avLst/>
          </a:prstGeom>
          <a:solidFill>
            <a:srgbClr val="23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2075688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06040"/>
            <a:ext cx="2148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Split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035808"/>
            <a:ext cx="2148840" cy="960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Create stratified training and test sets (80% / 20%).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651760"/>
            <a:ext cx="2743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49D9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65392" y="2011680"/>
            <a:ext cx="438912" cy="438912"/>
          </a:xfrm>
          <a:prstGeom prst="round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2075688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06040"/>
            <a:ext cx="2148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35808"/>
            <a:ext cx="2148840" cy="960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Represent words and two-word phrases as weighted numeric features.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651760"/>
            <a:ext cx="2743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149D9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251460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00032" y="2011680"/>
            <a:ext cx="438912" cy="438912"/>
          </a:xfrm>
          <a:prstGeom prst="roundRect">
            <a:avLst/>
          </a:prstGeom>
          <a:solidFill>
            <a:srgbClr val="23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0032" y="2075688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606040"/>
            <a:ext cx="214884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Train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035808"/>
            <a:ext cx="2148840" cy="960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Fit candidate classifiers on the training portion.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663440"/>
            <a:ext cx="10698480" cy="822960"/>
          </a:xfrm>
          <a:prstGeom prst="roundRect">
            <a:avLst/>
          </a:prstGeom>
          <a:solidFill>
            <a:srgbClr val="E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864608"/>
            <a:ext cx="1024128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162745"/>
                </a:solidFill>
                <a:latin typeface="Aptos"/>
              </a:defRPr>
            </a:pPr>
            <a:r>
              <a:t>Feature setup: lowercase text • unigram + bigram features • up to 100,000 TF-IDF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The baseline model uses tweet text; metadata columns are not fed directly into the classifier.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04  |  Model Training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229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Two baseline classifiers are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3657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82296" cy="1417320"/>
          </a:xfrm>
          <a:prstGeom prst="rect">
            <a:avLst/>
          </a:prstGeom>
          <a:solidFill>
            <a:srgbClr val="235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91639"/>
            <a:ext cx="4864608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4864608" cy="7955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TF-IDF text features with balanced class weights; maximum 1,500 iterations.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2120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82296" cy="1417320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91639"/>
            <a:ext cx="4864608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745"/>
                </a:solidFill>
                <a:latin typeface="Aptos"/>
              </a:defRPr>
            </a:pPr>
            <a:r>
              <a:t>Multinomial Naive Bayes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03120"/>
            <a:ext cx="4864608" cy="79552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3657E"/>
                </a:solidFill>
                <a:latin typeface="Aptos"/>
              </a:defRPr>
            </a:pPr>
            <a:r>
              <a:t>A probability-based text classifier using TF-IDF features and smoothing.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41148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62745"/>
                </a:solidFill>
                <a:latin typeface="Aptos"/>
              </a:defRPr>
            </a:pPr>
            <a:r>
              <a:t>Evaluation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4754880" cy="1737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62745"/>
                </a:solidFill>
                <a:latin typeface="Aptos"/>
              </a:defRPr>
            </a:pPr>
            <a:r>
              <a:t>•  Accuracy — overall correct predictions</a:t>
            </a:r>
          </a:p>
          <a:p>
            <a:pPr>
              <a:spcAft>
                <a:spcPts val="500"/>
              </a:spcAft>
              <a:defRPr sz="1400">
                <a:solidFill>
                  <a:srgbClr val="162745"/>
                </a:solidFill>
                <a:latin typeface="Aptos"/>
              </a:defRPr>
            </a:pPr>
            <a:r>
              <a:t>•  Precision — reliability of positive predictions</a:t>
            </a:r>
          </a:p>
          <a:p>
            <a:pPr>
              <a:spcAft>
                <a:spcPts val="500"/>
              </a:spcAft>
              <a:defRPr sz="1400">
                <a:solidFill>
                  <a:srgbClr val="162745"/>
                </a:solidFill>
                <a:latin typeface="Aptos"/>
              </a:defRPr>
            </a:pPr>
            <a:r>
              <a:t>•  Recall — how many disaster tweets are found</a:t>
            </a:r>
          </a:p>
          <a:p>
            <a:pPr>
              <a:spcAft>
                <a:spcPts val="500"/>
              </a:spcAft>
              <a:defRPr sz="1400">
                <a:solidFill>
                  <a:srgbClr val="162745"/>
                </a:solidFill>
                <a:latin typeface="Aptos"/>
              </a:defRPr>
            </a:pPr>
            <a:r>
              <a:t>•  F1-score — balance of precision and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46120"/>
            <a:ext cx="5257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56432"/>
            <a:ext cx="4754880" cy="1463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3657E"/>
                </a:solidFill>
                <a:latin typeface="Aptos"/>
              </a:defRPr>
            </a:pPr>
            <a:r>
              <a:t>Diagnostics generated by the training script</a:t>
            </a:r>
          </a:p>
          <a:p>
            <a:pPr>
              <a:spcAft>
                <a:spcPts val="600"/>
              </a:spcAft>
              <a:defRPr sz="1500" b="0">
                <a:solidFill>
                  <a:srgbClr val="53657E"/>
                </a:solidFill>
                <a:latin typeface="Aptos"/>
              </a:defRPr>
            </a:pPr>
            <a:r>
              <a:t>• Confusion matrix</a:t>
            </a:r>
          </a:p>
          <a:p>
            <a:pPr>
              <a:spcAft>
                <a:spcPts val="600"/>
              </a:spcAft>
              <a:defRPr sz="1500" b="0">
                <a:solidFill>
                  <a:srgbClr val="53657E"/>
                </a:solidFill>
                <a:latin typeface="Aptos"/>
              </a:defRPr>
            </a:pPr>
            <a:r>
              <a:t>• ROC curve and AUC</a:t>
            </a:r>
          </a:p>
          <a:p>
            <a:pPr>
              <a:spcAft>
                <a:spcPts val="600"/>
              </a:spcAft>
              <a:defRPr sz="1500" b="0">
                <a:solidFill>
                  <a:srgbClr val="53657E"/>
                </a:solidFill>
                <a:latin typeface="Aptos"/>
              </a:defRPr>
            </a:pPr>
            <a:r>
              <a:t>• Precision–recall curve</a:t>
            </a:r>
          </a:p>
          <a:p>
            <a:pPr>
              <a:spcAft>
                <a:spcPts val="600"/>
              </a:spcAft>
              <a:defRPr sz="1500" b="0">
                <a:solidFill>
                  <a:srgbClr val="53657E"/>
                </a:solidFill>
                <a:latin typeface="Aptos"/>
              </a:defRPr>
            </a:pPr>
            <a:r>
              <a:t>• Model-metrics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7899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Scores must be generated by running train_model.py; no test metrics are assumed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05  |  Web Application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229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Screenshot: a disaster-related tweet is classified in the shown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3657E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6" name="Picture 5" descr="image(20261012-1445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368142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828800"/>
            <a:ext cx="2926080" cy="1280160"/>
          </a:xfrm>
          <a:prstGeom prst="roundRect">
            <a:avLst/>
          </a:prstGeom>
          <a:solidFill>
            <a:srgbClr val="E1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993392"/>
            <a:ext cx="25603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693E"/>
                </a:solidFill>
                <a:latin typeface="Aptos"/>
              </a:defRPr>
            </a:pPr>
            <a:r>
              <a:t>Example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95728"/>
            <a:ext cx="25603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62745"/>
                </a:solidFill>
                <a:latin typeface="Aptos"/>
              </a:defRPr>
            </a:pPr>
            <a:r>
              <a:t>Forest fire and evacuation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246120"/>
            <a:ext cx="25603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3657E"/>
                </a:solidFill>
                <a:latin typeface="Aptos"/>
              </a:defRPr>
            </a:pPr>
            <a:r>
              <a:t>Prediction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639312"/>
            <a:ext cx="256032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693E"/>
                </a:solidFill>
                <a:latin typeface="Aptos"/>
              </a:defRPr>
            </a:pPr>
            <a:r>
              <a:t>Disaster-related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251960"/>
            <a:ext cx="256032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57E"/>
                </a:solidFill>
                <a:latin typeface="Aptos"/>
              </a:defRPr>
            </a:pPr>
            <a:r>
              <a:t>Model confidence shown: 96.0%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5760720"/>
            <a:ext cx="274320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3657E"/>
                </a:solidFill>
                <a:latin typeface="Aptos"/>
              </a:defRPr>
            </a:pPr>
            <a:r>
              <a:t>Demo result from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162745"/>
                </a:solidFill>
                <a:latin typeface="Aptos"/>
              </a:defRPr>
            </a:pPr>
            <a:r>
              <a:t>06  |  Demo Result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229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Everyday work-related text is classified as non-disaster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3657E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 descr="image(20261012-1445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7328761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828800"/>
            <a:ext cx="2926080" cy="1280160"/>
          </a:xfrm>
          <a:prstGeom prst="roundRect">
            <a:avLst/>
          </a:prstGeom>
          <a:solidFill>
            <a:srgbClr val="E1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32520" y="1993392"/>
            <a:ext cx="25603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693E"/>
                </a:solidFill>
                <a:latin typeface="Aptos"/>
              </a:defRPr>
            </a:pPr>
            <a:r>
              <a:t>Example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95728"/>
            <a:ext cx="25603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62745"/>
                </a:solidFill>
                <a:latin typeface="Aptos"/>
              </a:defRPr>
            </a:pPr>
            <a:r>
              <a:t>Promotion at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246120"/>
            <a:ext cx="25603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3657E"/>
                </a:solidFill>
                <a:latin typeface="Aptos"/>
              </a:defRPr>
            </a:pPr>
            <a:r>
              <a:t>Prediction shown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639312"/>
            <a:ext cx="256032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693E"/>
                </a:solidFill>
                <a:latin typeface="Aptos"/>
              </a:defRPr>
            </a:pPr>
            <a:r>
              <a:t>Non-disaster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251960"/>
            <a:ext cx="256032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3657E"/>
                </a:solidFill>
                <a:latin typeface="Aptos"/>
              </a:defRPr>
            </a:pPr>
            <a:r>
              <a:t>Model confidence shown: 86.0%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5074920"/>
            <a:ext cx="2743200" cy="9144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• Predictions can be wrong</a:t>
            </a:r>
          </a:p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• Confidence is not a guarantee</a:t>
            </a:r>
          </a:p>
          <a:p>
            <a:pPr>
              <a:spcAft>
                <a:spcPts val="600"/>
              </a:spcAft>
              <a:defRPr sz="1200" b="0">
                <a:solidFill>
                  <a:srgbClr val="53657E"/>
                </a:solidFill>
                <a:latin typeface="Aptos"/>
              </a:defRPr>
            </a:pPr>
            <a:r>
              <a:t>• Not for emergency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07  |  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371600"/>
            <a:ext cx="731520" cy="54864"/>
          </a:xfrm>
          <a:prstGeom prst="rect">
            <a:avLst/>
          </a:prstGeom>
          <a:solidFill>
            <a:srgbClr val="149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50292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AAE6DC"/>
                </a:solidFill>
                <a:latin typeface="Aptos"/>
              </a:defRPr>
            </a:pPr>
            <a:r>
              <a:t>What the project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521208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A complete text-classification pipeline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Baseline models and evaluation visualizations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A Flask interface for single-tweet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83080"/>
            <a:ext cx="50292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AAE6DC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12064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Add cross-validation and hyperparameter search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Tune thresholds to reduce false alarms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Test on unseen, diverse tweet examples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dirty="0"/>
              <a:t>•  Deploy securely only after further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spcAft>
                <a:spcPts val="6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603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supriya prasad</dc:creator>
  <cp:keywords/>
  <dc:description>generated using python-pptx</dc:description>
  <cp:lastModifiedBy>supriya prasad</cp:lastModifiedBy>
  <cp:revision>2</cp:revision>
  <dcterms:created xsi:type="dcterms:W3CDTF">2013-01-27T09:14:16Z</dcterms:created>
  <dcterms:modified xsi:type="dcterms:W3CDTF">2026-10-12T15:01:08Z</dcterms:modified>
  <cp:category/>
</cp:coreProperties>
</file>